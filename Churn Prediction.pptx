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1" r:id="rId9"/>
    <p:sldId id="262" r:id="rId10"/>
    <p:sldId id="263" r:id="rId11"/>
    <p:sldId id="270" r:id="rId12"/>
    <p:sldId id="274" r:id="rId13"/>
    <p:sldId id="26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53DB6D-C80F-4061-86B7-AE990F178985}">
          <p14:sldIdLst>
            <p14:sldId id="256"/>
            <p14:sldId id="257"/>
          </p14:sldIdLst>
        </p14:section>
        <p14:section name="DESCRIPTION" id="{F65A6C24-6EE3-4360-AB28-F6142E4BDD1F}">
          <p14:sldIdLst>
            <p14:sldId id="258"/>
          </p14:sldIdLst>
        </p14:section>
        <p14:section name="EXPLORATORY DATA ANALYSIS" id="{2636F816-3EDA-43AC-8B31-F2E3EA48817F}">
          <p14:sldIdLst>
            <p14:sldId id="259"/>
            <p14:sldId id="272"/>
            <p14:sldId id="273"/>
            <p14:sldId id="260"/>
            <p14:sldId id="261"/>
            <p14:sldId id="262"/>
            <p14:sldId id="263"/>
            <p14:sldId id="270"/>
            <p14:sldId id="274"/>
          </p14:sldIdLst>
        </p14:section>
        <p14:section name="MODELLING" id="{0DB157DB-9715-417A-9C01-CC957FA22086}">
          <p14:sldIdLst>
            <p14:sldId id="26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E71E8-D292-4207-8B64-3DA69BC6687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F1D22-FAC1-4BBC-8D98-A0E9EA436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78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F1D22-FAC1-4BBC-8D98-A0E9EA436D1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2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8A91-BAD1-A46A-A6FA-B816CB5DB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F6359-0179-6D48-5FA1-03B8F0FDC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53F4-8618-EE4F-40A2-FD1BE437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EDB48-DBBB-6DAF-040A-A2094051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F1859-EE9A-4571-6B45-E1EEE719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18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8C99-C3F3-3314-3412-B8CBF55F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14EED-E91B-66E3-44D7-ED0506960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F4789-7C5E-3E49-64FA-913B7698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2CDEC-73DB-2D5F-FD06-0781024D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2A5B8-D120-BCB4-B72A-E1F4FBF2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58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8D59-2FAC-5079-1266-0037BDB8D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A62F8-1895-E2AC-B18C-0EF504BCE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5FEEA-ED27-D498-025E-CB7611EE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26F9B-2C25-22E2-E718-1EA7C7A1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47624-CECD-7090-6450-41AB6B6B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16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3206-843E-F54C-6B96-55815E8F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9240E-F676-F06E-2439-0369D9DF5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0ED94-80A6-4BAF-9009-59F706831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F3794-2A9E-7133-F9C9-DA187D96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50882-9C01-E8DA-420D-7FF0898C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A007F-3C9D-138A-4B4E-5DD33D34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535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D7DD-E115-FCA8-67EB-BAAFB8FD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919DA-EBE9-9101-51A1-95E6D33E7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D1FE9-818D-8FAF-34FB-E3913FF0F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51BC4-A351-DC47-C046-B5E9FB719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2DD68-6855-193D-6E34-85DEB2B16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CDDFE-BE7B-CC47-63E5-D96D8383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2A462-F636-07E5-4703-00CA2D61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7D8BFE-F16B-7ED7-1534-97B987BC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19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B477-40B8-28CD-52D9-7146F4CB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446E8-49C0-B9B4-8E77-DE174204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3509B-EC39-2D4B-E94A-69194BCFF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71EE4-1D2A-62DC-963E-D639AF00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28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4F7FB-4DE3-5EE6-F8A4-3BB5AE01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97EB97-5888-3BFB-B363-1991C36A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DEF54-A0C6-8C98-D906-409CF19A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68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FC0F-F9C3-9F50-8916-6213E4D7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1107E-E33A-772E-C39A-5E82B0F0F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1CB83-3B3E-DC6F-BC5F-C3F1FF068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4ADCE-DB18-F8BC-C9A2-832DF933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6FFD6-AF17-C7BF-582E-83159931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4AB84-CB0B-59E2-8EE7-AEAC820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6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6FCFF-97A2-6E6A-475B-05AD9DF97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64E06-1EAB-8D82-417F-7D96A1223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260E4-AD60-3AE4-2C06-7EACE67A2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91D2F-BD5F-7AB8-ADDA-0696EF6A4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EB9FC-C872-B023-C068-4D1DC484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45D27-E9AF-B646-41CD-6B354542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769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13F9-9186-6732-E955-CB797E4B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FA21E-0493-9A94-B175-B086D4F0E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26C1A-4C1E-87ED-0C66-203E090E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F4C4F-2216-9EBA-37CC-91C7D215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A276-1A9D-830A-BFAD-9F7D4AC7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4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B3EBF-16A4-8254-7F12-890374751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F880A-7B75-A647-5884-088DBED1D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A22CF-63C7-410A-744F-7B68CC46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63D7-EF2E-7526-FCF3-AB02BE2E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F467C-9FE5-30B6-18FF-BB6D4A10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407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3A334-4CA8-38CB-3F64-BAB42D2E4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5E035-6324-0778-7BDF-E52368A4E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FB33A-97FA-AA22-CACD-43DFC761E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8CFD9-9733-4DC6-A68B-B7EE000F51F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651F3-9B0B-252F-C5A8-A03429D4A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67AAC-1307-33EF-34DE-A440290B3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3AC74-BD19-4EDE-B23B-82B71D5AC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1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54EC-BE17-A62E-3B74-EAF2858FAA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PREDICTION </a:t>
            </a:r>
            <a:endParaRPr lang="en-IN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B11F5-01A6-94C9-26AF-CB27E96DD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341"/>
            <a:ext cx="9144000" cy="1655762"/>
          </a:xfrm>
        </p:spPr>
        <p:txBody>
          <a:bodyPr/>
          <a:lstStyle/>
          <a:p>
            <a:r>
              <a:rPr lang="en-US" i="1" dirty="0"/>
              <a:t>Did you know that attracting a new customer costs five times as much as keeping an existing one?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45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532E-33B3-5A54-1E07-2FCDA099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0AFC0-880E-1BA9-5A22-BC1DB7990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227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Customer Churn?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customers discontinue using a telecom service.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 churn is high (15–25%) because switching providers is easy.</a:t>
            </a: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is Churn a Major Problem?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Retaining customers is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 cheaper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than acquiring new ones.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churn directly reduces revenue, profit, and market share.</a:t>
            </a: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Predict Churn?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Companies cannot manually monitor millions of customers.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Predicting churn helps identify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high-risk customers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advance.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targeted retention through discounts, offers, or improved service.</a:t>
            </a: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churn is a binary outcome (Yes/No), classification algorithms are the appropriate choice for modelling.</a:t>
            </a:r>
          </a:p>
          <a:p>
            <a:pPr lvl="1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39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7D47-28EE-159A-537B-75D99945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3E61B-4435-44AC-6261-3FC95DF96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The column involved and their description: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CustomerID: 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ID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the customer is a male or a female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SeniorCitizen: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the customer is a senior citizen or not (1, 0)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the customer has a partner or not (Yes, No) 	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Dependents: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the customer has dependents or not (Yes, No)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months the customer has stayed with the company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PhoneService: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the customer has a phone service or not (Yes, No)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MultipleLines: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the customer has multiple lines or not (Yes, No, No phone service)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InternetService: 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Customer’s internet service provider (DSL, Fiber optic, No)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OnlineSecurity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Whether the customer has online security or not (Yes, No, No internet service)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MonthlyCharge: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amount a customer pays every month for their telecom plan.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TotalCharge: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total amount of money the customer has paid to the telecom company so far since joining.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65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6170-9BB1-E5C5-4216-5CF5DE6D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 Plot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3D3E57-F9DF-7719-45A9-362540FB48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5" y="2899276"/>
            <a:ext cx="6318517" cy="359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B817F-0C6A-4232-1722-45BFAD5F1C8D}"/>
              </a:ext>
            </a:extLst>
          </p:cNvPr>
          <p:cNvSpPr txBox="1"/>
          <p:nvPr/>
        </p:nvSpPr>
        <p:spPr>
          <a:xfrm>
            <a:off x="1016000" y="1483360"/>
            <a:ext cx="103378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 and MonthlyCharges show wider spread and higher medians, indicating more variability and generally higher normalized values compared to SeniorCitizen and TotalCharges.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SeniorCitizen is mostly near zero with a few outliers, while TotalCharges has a lower median and moderate spread, suggesting most customers have relatively lower scaled total charges.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81767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28CB-BC90-C260-9B56-A355C95C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 Distribution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95A1B8-FEB5-F5BF-0C1B-766FB03FB2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53" y="2141537"/>
            <a:ext cx="1002699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0CB5E0-9ED8-AF98-96D8-331263F48BE9}"/>
              </a:ext>
            </a:extLst>
          </p:cNvPr>
          <p:cNvSpPr txBox="1"/>
          <p:nvPr/>
        </p:nvSpPr>
        <p:spPr>
          <a:xfrm>
            <a:off x="838200" y="1536799"/>
            <a:ext cx="10204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graph shows the data before and after applying outlier removal using the Z-score method.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8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00846-4DFC-5615-473B-4C86EFB0A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2052"/>
            <a:ext cx="10515600" cy="50954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Above image we observe that: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400" b="1" dirty="0"/>
              <a:t>1. Tenure Distribution</a:t>
            </a:r>
            <a:endParaRPr lang="en-US" sz="1400" dirty="0"/>
          </a:p>
          <a:p>
            <a:r>
              <a:rPr lang="en-US" sz="1400" dirty="0"/>
              <a:t>Findings: Most customers fall between 0–12 months; cleaning didn’t change the shape.</a:t>
            </a:r>
          </a:p>
          <a:p>
            <a:r>
              <a:rPr lang="en-US" sz="1400" dirty="0"/>
              <a:t>Insights: Customer base is dominated by new users.</a:t>
            </a:r>
          </a:p>
          <a:p>
            <a:r>
              <a:rPr lang="en-US" sz="1400" dirty="0"/>
              <a:t>Recommendation: Strengthen early onboarding and first-90-days engagement.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2. MonthlyCharges Distribution</a:t>
            </a:r>
            <a:endParaRPr lang="en-US" sz="1400" dirty="0"/>
          </a:p>
          <a:p>
            <a:r>
              <a:rPr lang="en-US" sz="1400" dirty="0"/>
              <a:t>Findings: Two charge groups appear (low 15–40, high 70–110); no major outliers.</a:t>
            </a:r>
          </a:p>
          <a:p>
            <a:r>
              <a:rPr lang="en-US" sz="1400" dirty="0"/>
              <a:t>Insights: High-charge customers form the largest segment and are more churn-prone.</a:t>
            </a:r>
          </a:p>
          <a:p>
            <a:r>
              <a:rPr lang="en-US" sz="1400" dirty="0"/>
              <a:t>Recommendation: Offer flexible or discounted plan options for high-paying users.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3. TotalCharges Distribution</a:t>
            </a:r>
            <a:endParaRPr lang="en-US" sz="1400" dirty="0"/>
          </a:p>
          <a:p>
            <a:r>
              <a:rPr lang="en-US" sz="1400" dirty="0"/>
              <a:t>Findings: Strong right skew; low values for new customers, high values for long-term users.</a:t>
            </a:r>
          </a:p>
          <a:p>
            <a:r>
              <a:rPr lang="en-US" sz="1400" dirty="0"/>
              <a:t>Insights: TotalCharges reflects customer age — low values = new customers.</a:t>
            </a:r>
          </a:p>
          <a:p>
            <a:r>
              <a:rPr lang="en-US" sz="1400" dirty="0"/>
              <a:t>Recommendation: Target low-</a:t>
            </a:r>
            <a:r>
              <a:rPr lang="en-US" sz="1400" dirty="0" err="1"/>
              <a:t>TotalCharge</a:t>
            </a:r>
            <a:r>
              <a:rPr lang="en-US" sz="1400" dirty="0"/>
              <a:t> users with retention programs and long-term offers.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260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7C49-3D28-DEA3-956B-346AFDC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23385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Kernal Density Estimate Plot : Tenure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5D5C987-0231-8678-E28A-417A241EBF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" y="2854682"/>
            <a:ext cx="7223774" cy="356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A7DDE0-B34E-DE85-DE27-24595A480E1F}"/>
              </a:ext>
            </a:extLst>
          </p:cNvPr>
          <p:cNvSpPr txBox="1"/>
          <p:nvPr/>
        </p:nvSpPr>
        <p:spPr>
          <a:xfrm>
            <a:off x="975360" y="1690688"/>
            <a:ext cx="10515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 vs Churn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Customers with very low tenure (0–12 months) show a much higher churn density.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Churners are mainly new customers who leave early in their lifecycle.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Implement a strong onboarding + first-90-days retention strategy.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37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92AC-EB80-DCE4-0A7F-2A9899116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458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Kernal Density Estimate Plot : MonthlyCharges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A6A920A-387C-A2B1-E402-7D6EBAB1A6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80" y="2926708"/>
            <a:ext cx="7205486" cy="356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96579D-0C74-5791-2DDF-06BD22007A5E}"/>
              </a:ext>
            </a:extLst>
          </p:cNvPr>
          <p:cNvSpPr txBox="1"/>
          <p:nvPr/>
        </p:nvSpPr>
        <p:spPr>
          <a:xfrm>
            <a:off x="838200" y="1849120"/>
            <a:ext cx="1115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MonthlyCharges vs Churn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Churn probability is higher for customers paying higher monthly charges($) (≈ $70–100).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High-priced plans are perceived as expensive or poor value, pushing customers out.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Introduce flexible/cheaper versions of high-priced plans.</a:t>
            </a:r>
          </a:p>
        </p:txBody>
      </p:sp>
    </p:spTree>
    <p:extLst>
      <p:ext uri="{BB962C8B-B14F-4D97-AF65-F5344CB8AC3E}">
        <p14:creationId xmlns:p14="http://schemas.microsoft.com/office/powerpoint/2010/main" val="383865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19C5-559A-A9EB-BD59-D12818D5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Kernal Density Estimate Plot : TotalCharges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FABA723-DA3B-1BA9-8812-2825EEAA0D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94628"/>
            <a:ext cx="7214630" cy="356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764A8B-30BD-CE8F-322B-900638FDED79}"/>
              </a:ext>
            </a:extLst>
          </p:cNvPr>
          <p:cNvSpPr txBox="1"/>
          <p:nvPr/>
        </p:nvSpPr>
        <p:spPr>
          <a:xfrm>
            <a:off x="690880" y="1493520"/>
            <a:ext cx="1099312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TotalCharges vs Churn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Customers with high total charges (loyal customers) show very low churn.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TotalCharges acts as a proxy for tenure — low total spend = new customers. Customers with higher lifetime value (LTV) tend to stay longer.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Identify low-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TotalCharge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 as early churn risk. Encourage long-term commitment using:1-year or 2-year contract discounts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667062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70B8-71DF-D33F-396E-68A548F1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24151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Stacked Churn Distribution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F0E67-AB6A-1E34-4ABB-FDA5ABB83848}"/>
              </a:ext>
            </a:extLst>
          </p:cNvPr>
          <p:cNvSpPr txBox="1"/>
          <p:nvPr/>
        </p:nvSpPr>
        <p:spPr>
          <a:xfrm>
            <a:off x="701040" y="1294771"/>
            <a:ext cx="1111504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b="1" dirty="0"/>
          </a:p>
          <a:p>
            <a:r>
              <a:rPr lang="en-US" sz="1200" b="1" dirty="0"/>
              <a:t>1. Gender vs Churn</a:t>
            </a:r>
          </a:p>
          <a:p>
            <a:r>
              <a:rPr lang="en-US" sz="1200" dirty="0"/>
              <a:t>Findings: Churn rate is slightly higher for females compared to males.</a:t>
            </a:r>
          </a:p>
          <a:p>
            <a:r>
              <a:rPr lang="en-US" sz="1200" dirty="0"/>
              <a:t>Insights: Gender has only a mild effect on churn — not a strong predictor.</a:t>
            </a:r>
          </a:p>
          <a:p>
            <a:r>
              <a:rPr lang="en-US" sz="1200" dirty="0"/>
              <a:t>Recommendation: No gender-based customer strategy required; focus on stronger churn drivers.</a:t>
            </a:r>
          </a:p>
          <a:p>
            <a:endParaRPr lang="en-US" sz="1200" b="1" dirty="0"/>
          </a:p>
          <a:p>
            <a:r>
              <a:rPr lang="en-US" sz="1200" b="1" dirty="0"/>
              <a:t>2. Partner vs Churn</a:t>
            </a:r>
          </a:p>
          <a:p>
            <a:r>
              <a:rPr lang="en-US" sz="1200" dirty="0"/>
              <a:t>Findings: Customers without partners churn at a much higher rate.</a:t>
            </a:r>
          </a:p>
          <a:p>
            <a:r>
              <a:rPr lang="en-US" sz="1200" dirty="0"/>
              <a:t>Insights: Single or living-alone customers may have lower stickiness or income stability.</a:t>
            </a:r>
          </a:p>
          <a:p>
            <a:r>
              <a:rPr lang="en-US" sz="1200" dirty="0"/>
              <a:t>Recommendation: Create loyalty perks / bundles to improve retention among non-partner customers.</a:t>
            </a:r>
          </a:p>
          <a:p>
            <a:endParaRPr lang="en-US" sz="1200" dirty="0"/>
          </a:p>
          <a:p>
            <a:r>
              <a:rPr lang="en-US" sz="1200" b="1" dirty="0"/>
              <a:t>3. Dependents vs Churn</a:t>
            </a:r>
          </a:p>
          <a:p>
            <a:r>
              <a:rPr lang="en-US" sz="1200" dirty="0"/>
              <a:t>Findings: Customers without dependents churn more often.</a:t>
            </a:r>
          </a:p>
          <a:p>
            <a:r>
              <a:rPr lang="en-US" sz="1200" dirty="0"/>
              <a:t>Insights: Families (with dependents) are more stable and value consistent service and retain this group.</a:t>
            </a:r>
          </a:p>
          <a:p>
            <a:r>
              <a:rPr lang="en-US" sz="1200" dirty="0"/>
              <a:t>Recommendation: Offer family bundles or multi-device discounts to attract and retain this group.</a:t>
            </a:r>
          </a:p>
          <a:p>
            <a:endParaRPr lang="en-US" sz="1200" dirty="0"/>
          </a:p>
          <a:p>
            <a:endParaRPr lang="en-IN" sz="1200" dirty="0"/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7287A475-0FDF-1A74-2E20-1F18720BE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4060" y="4518201"/>
            <a:ext cx="10515600" cy="20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1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C02A-BC5F-4219-A071-D34DAF702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03" y="52776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4. InternetService vs Churn</a:t>
            </a:r>
          </a:p>
          <a:p>
            <a:pPr marL="0" indent="0">
              <a:buNone/>
            </a:pPr>
            <a:r>
              <a:rPr lang="en-US" sz="1200" dirty="0"/>
              <a:t>Findings: Fiber optic users have the highest churn. DSL has moderate churn; No-internet-service customers have very low churn.</a:t>
            </a:r>
          </a:p>
          <a:p>
            <a:pPr marL="0" indent="0">
              <a:buNone/>
            </a:pPr>
            <a:r>
              <a:rPr lang="en-US" sz="1200" dirty="0"/>
              <a:t>Insights: Fiber optic plans are expensive — pushing price-sensitive customers to churn.</a:t>
            </a:r>
          </a:p>
          <a:p>
            <a:pPr marL="0" indent="0">
              <a:buNone/>
            </a:pPr>
            <a:r>
              <a:rPr lang="en-US" sz="1200" dirty="0"/>
              <a:t>Recommendation: Reduce price friction for fiber plans through discounts or flexible billing.</a:t>
            </a:r>
          </a:p>
          <a:p>
            <a:pPr marL="0" indent="0">
              <a:buNone/>
            </a:pPr>
            <a:r>
              <a:rPr lang="en-US" sz="1200" b="1" dirty="0"/>
              <a:t>5. StreamingMovies vs Churn</a:t>
            </a:r>
          </a:p>
          <a:p>
            <a:pPr marL="0" indent="0">
              <a:buNone/>
            </a:pPr>
            <a:r>
              <a:rPr lang="en-US" sz="1200" dirty="0"/>
              <a:t>Findings: Customers using streaming services (Movies/TV) churn slightly more than those who do not.</a:t>
            </a:r>
          </a:p>
          <a:p>
            <a:pPr marL="0" indent="0">
              <a:buNone/>
            </a:pPr>
            <a:r>
              <a:rPr lang="en-US" sz="1200" dirty="0"/>
              <a:t>Insights: Heavy service users may be more aware of performance issues (speed/quality).</a:t>
            </a:r>
          </a:p>
          <a:p>
            <a:pPr marL="0" indent="0">
              <a:buNone/>
            </a:pPr>
            <a:r>
              <a:rPr lang="en-US" sz="1200" dirty="0"/>
              <a:t>Recommendation: Ensure strong performance and promote streaming-optimized internet packages.</a:t>
            </a:r>
          </a:p>
          <a:p>
            <a:pPr marL="0" indent="0">
              <a:buNone/>
            </a:pPr>
            <a:r>
              <a:rPr lang="en-US" sz="1200" b="1" dirty="0"/>
              <a:t>6. Contract Type vs Churn</a:t>
            </a:r>
          </a:p>
          <a:p>
            <a:pPr marL="0" indent="0">
              <a:buNone/>
            </a:pPr>
            <a:r>
              <a:rPr lang="en-US" sz="1200" dirty="0"/>
              <a:t>Findings: Highest churn: Month-to-month, Lowest churn: Two-year contract</a:t>
            </a:r>
          </a:p>
          <a:p>
            <a:pPr marL="0" indent="0">
              <a:buNone/>
            </a:pPr>
            <a:r>
              <a:rPr lang="en-US" sz="1200" dirty="0"/>
              <a:t>Insights: Short-term contracts give customers easy exit options → more churn.</a:t>
            </a:r>
          </a:p>
          <a:p>
            <a:pPr marL="0" indent="0">
              <a:buNone/>
            </a:pPr>
            <a:r>
              <a:rPr lang="en-US" sz="1200" dirty="0"/>
              <a:t>Recommendation: Push customers toward annual or two-year contracts using discounts or perks.</a:t>
            </a:r>
          </a:p>
          <a:p>
            <a:endParaRPr lang="en-IN" dirty="0"/>
          </a:p>
        </p:txBody>
      </p:sp>
      <p:pic>
        <p:nvPicPr>
          <p:cNvPr id="5" name="Picture 4" descr="A graph with a number of blue and orange bars&#10;&#10;AI-generated content may be incorrect.">
            <a:extLst>
              <a:ext uri="{FF2B5EF4-FFF2-40B4-BE49-F238E27FC236}">
                <a16:creationId xmlns:a16="http://schemas.microsoft.com/office/drawing/2014/main" id="{9B585062-47B6-0988-ECEF-CBC7DD1C2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94" y="4241403"/>
            <a:ext cx="10805652" cy="228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35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arison of a bar graph&#10;&#10;AI-generated content may be incorrect.">
            <a:extLst>
              <a:ext uri="{FF2B5EF4-FFF2-40B4-BE49-F238E27FC236}">
                <a16:creationId xmlns:a16="http://schemas.microsoft.com/office/drawing/2014/main" id="{C6C07927-86FB-824A-5974-3BF62ECB3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999"/>
          <a:stretch>
            <a:fillRect/>
          </a:stretch>
        </p:blipFill>
        <p:spPr>
          <a:xfrm>
            <a:off x="1167739" y="3429000"/>
            <a:ext cx="8735644" cy="25521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8589FD-62AE-0254-456A-AC6709C4FFA5}"/>
              </a:ext>
            </a:extLst>
          </p:cNvPr>
          <p:cNvSpPr txBox="1"/>
          <p:nvPr/>
        </p:nvSpPr>
        <p:spPr>
          <a:xfrm>
            <a:off x="768145" y="978279"/>
            <a:ext cx="106557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7. PaperlessBilling vs Churn</a:t>
            </a:r>
          </a:p>
          <a:p>
            <a:r>
              <a:rPr lang="en-US" sz="1200" dirty="0"/>
              <a:t>Findings: Paperless billing customers churn more.</a:t>
            </a:r>
          </a:p>
          <a:p>
            <a:r>
              <a:rPr lang="en-US" sz="1200" dirty="0"/>
              <a:t>Insights: Paperless billing often correlates with month-to-month contracts and digital-only customers</a:t>
            </a:r>
          </a:p>
          <a:p>
            <a:r>
              <a:rPr lang="en-US" sz="1200" dirty="0"/>
              <a:t>Recommendation: Provide incentives for paperless customers to move to long-term contracts.</a:t>
            </a:r>
          </a:p>
          <a:p>
            <a:endParaRPr lang="en-US" sz="1200" dirty="0"/>
          </a:p>
          <a:p>
            <a:r>
              <a:rPr lang="en-US" sz="1200" b="1" dirty="0"/>
              <a:t>8. PaymentMethod vs Churn</a:t>
            </a:r>
          </a:p>
          <a:p>
            <a:r>
              <a:rPr lang="en-US" sz="1200" dirty="0"/>
              <a:t>Findings: Highest churn: Electronic check users, Lowest churn: Automatic bank transfer / Credit card automatic</a:t>
            </a:r>
          </a:p>
          <a:p>
            <a:r>
              <a:rPr lang="en-US" sz="1200" dirty="0"/>
              <a:t>Insights: Electronic check users may face payment friction causing churn. Autopay customers are more stable and low-risk.</a:t>
            </a:r>
          </a:p>
          <a:p>
            <a:r>
              <a:rPr lang="en-US" sz="1200" dirty="0"/>
              <a:t>Recommendation: Promote auto-debit payment options with incentives (cashback/small discounts).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38655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FBDA-27FE-D69C-1EF2-B1FAE4C1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en-IN" sz="4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3E498-7427-2420-34D5-39F0F621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was divided into Training and Testing sets using an 80:20 ratio. This means 80% of the data was used to train the model, and the remaining 20% was used to evaluate its performance.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target variable for prediction is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indicates whether a customer leaves the service (Yes) or stays (No). All other columns in the dataset act as independent (input) features.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other columns in the dataset act as independent (input) features.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include demographic details, service-related fields, and account information that help the model learn patterns related to churn.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purpose of the split is to ensure the model learns from one portion of the data (training set) and is evaluated on completely unseen data (testing set) — this avoids overfitting and ensures reliable performance measurement.</a:t>
            </a:r>
          </a:p>
          <a:p>
            <a:endParaRPr lang="en-IN" dirty="0"/>
          </a:p>
        </p:txBody>
      </p:sp>
      <p:pic>
        <p:nvPicPr>
          <p:cNvPr id="7" name="Picture 6" descr="A computer code with black text">
            <a:extLst>
              <a:ext uri="{FF2B5EF4-FFF2-40B4-BE49-F238E27FC236}">
                <a16:creationId xmlns:a16="http://schemas.microsoft.com/office/drawing/2014/main" id="{0AE7F778-341A-E6C0-EE15-CAB3040AD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73"/>
          <a:stretch>
            <a:fillRect/>
          </a:stretch>
        </p:blipFill>
        <p:spPr>
          <a:xfrm>
            <a:off x="999324" y="4521902"/>
            <a:ext cx="9126224" cy="115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3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ACF2-AFCD-0CB3-DBFA-13FEC783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Train–Test Churn Distribution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AA415E8-D851-3EB7-711D-6070E7617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517" y="1742354"/>
            <a:ext cx="5670293" cy="454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B74145-5C6A-B00E-6423-970C16A09D11}"/>
              </a:ext>
            </a:extLst>
          </p:cNvPr>
          <p:cNvSpPr txBox="1"/>
          <p:nvPr/>
        </p:nvSpPr>
        <p:spPr>
          <a:xfrm>
            <a:off x="919480" y="1988339"/>
            <a:ext cx="517652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train and test sets have nearly identical churn ratios, ensuring a balanced and unbiased model evaluation.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Non-churn customers (Class 0) make up around 73–74% in both sets.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customers (Class 1) make up around 26–27% in both sets.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93C6A0-41D9-9C98-0673-F596FC697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864" y="4473677"/>
            <a:ext cx="3454157" cy="105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64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41AB-BE3A-B27D-F220-49ED4BE4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20" y="29286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Evaluation (Classification)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ABAC67-1F47-4E14-E424-5267CD1FA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807" y="1724155"/>
            <a:ext cx="582743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how many predictions are correct out of all predictions.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</a:t>
            </a:r>
            <a:r>
              <a:rPr lang="en-US" sz="1400" dirty="0"/>
              <a:t>Accuracy = (TP + TN) / (TP + TN + FP + FN)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customers predicted as churn, how many actually churned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when false positives matter.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 = TP / (TP + FP))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(Sensitivity): </a:t>
            </a:r>
            <a:r>
              <a:rPr lang="en-US" alt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1400" dirty="0"/>
              <a:t>ow many of the actual positive cases your model successfully caught.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all actual churners, how many the model correctly identified.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</a:t>
            </a:r>
            <a:r>
              <a:rPr lang="en-IN" sz="1400" dirty="0"/>
              <a:t>Recall = TP / (TP + FN)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Score: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 between Precision and Recall(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Harmonic mean of Precision and Recall)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best for imbalanced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TP, TN, FP, FN to understand model’s types of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ROC–AUC Score: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how well the model separates churn vs. non-churn cases.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AUC closer to 1.0 = excellent classifier.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Report: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Detailed summary of Precision, Recall, and F1 for each class.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7ABA95-CADF-25BD-7C17-13EA41DDD8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6"/>
          <a:stretch>
            <a:fillRect/>
          </a:stretch>
        </p:blipFill>
        <p:spPr>
          <a:xfrm>
            <a:off x="6956989" y="2047320"/>
            <a:ext cx="4732092" cy="26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9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5AAF-40A4-1CDA-1794-3F187E0C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78" y="14103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Model Summary and Selection Justification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3A951-2A68-58C2-C374-7228A8B970FB}"/>
              </a:ext>
            </a:extLst>
          </p:cNvPr>
          <p:cNvSpPr txBox="1"/>
          <p:nvPr/>
        </p:nvSpPr>
        <p:spPr>
          <a:xfrm>
            <a:off x="454659" y="3004812"/>
            <a:ext cx="436577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Logistic Regression, SVM, and XGBoost achieved the highest accuracy (0.82), these models are the most suitable for deployment.</a:t>
            </a:r>
          </a:p>
          <a:p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Among them, the final model can be selected based on additional metrics like interpretability, computation time, and consistency across validation methods.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27FD3-985E-C2F1-5D75-54837267D267}"/>
              </a:ext>
            </a:extLst>
          </p:cNvPr>
          <p:cNvSpPr txBox="1"/>
          <p:nvPr/>
        </p:nvSpPr>
        <p:spPr>
          <a:xfrm rot="10800000" flipV="1">
            <a:off x="454659" y="1842225"/>
            <a:ext cx="42844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evaluated multiple classification models to identify the most suitable algorithm for our dataset. The performance was compared using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the results are as follows: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3FD4FEC-3B5E-21A3-8D7F-57EAD8070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393" y="1924853"/>
            <a:ext cx="69109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35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1593</Words>
  <Application>Microsoft Office PowerPoint</Application>
  <PresentationFormat>Widescreen</PresentationFormat>
  <Paragraphs>136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CUSTOMER CHURN PREDICTION </vt:lpstr>
      <vt:lpstr>TELECOM CUSTOMER CHURN</vt:lpstr>
      <vt:lpstr>Feature Description</vt:lpstr>
      <vt:lpstr>Box Plot </vt:lpstr>
      <vt:lpstr>Histogram Distribution </vt:lpstr>
      <vt:lpstr>PowerPoint Presentation</vt:lpstr>
      <vt:lpstr>Kernal Density Estimate Plot : Tenure</vt:lpstr>
      <vt:lpstr>Kernal Density Estimate Plot : MonthlyCharges</vt:lpstr>
      <vt:lpstr>Kernal Density Estimate Plot : TotalCharges</vt:lpstr>
      <vt:lpstr>100% Stacked Churn Distribution </vt:lpstr>
      <vt:lpstr>PowerPoint Presentation</vt:lpstr>
      <vt:lpstr>PowerPoint Presentation</vt:lpstr>
      <vt:lpstr>Modelling</vt:lpstr>
      <vt:lpstr>Train–Test Churn Distribution</vt:lpstr>
      <vt:lpstr>Model Evaluation (Classification)</vt:lpstr>
      <vt:lpstr>Model Summary and Selection Justification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Khavya Kumar</dc:creator>
  <cp:lastModifiedBy>Khavya Kumar</cp:lastModifiedBy>
  <cp:revision>4</cp:revision>
  <dcterms:created xsi:type="dcterms:W3CDTF">2025-12-04T13:35:01Z</dcterms:created>
  <dcterms:modified xsi:type="dcterms:W3CDTF">2025-12-11T16:24:20Z</dcterms:modified>
</cp:coreProperties>
</file>