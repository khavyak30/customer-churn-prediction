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72" r:id="rId5"/>
    <p:sldId id="273" r:id="rId6"/>
    <p:sldId id="259" r:id="rId7"/>
    <p:sldId id="260" r:id="rId8"/>
    <p:sldId id="261" r:id="rId9"/>
    <p:sldId id="262" r:id="rId10"/>
    <p:sldId id="263" r:id="rId11"/>
    <p:sldId id="270" r:id="rId12"/>
    <p:sldId id="274" r:id="rId13"/>
    <p:sldId id="264" r:id="rId14"/>
    <p:sldId id="275" r:id="rId15"/>
    <p:sldId id="276" r:id="rId16"/>
    <p:sldId id="277" r:id="rId1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8753DB6D-C80F-4061-86B7-AE990F178985}">
          <p14:sldIdLst>
            <p14:sldId id="256"/>
            <p14:sldId id="257"/>
          </p14:sldIdLst>
        </p14:section>
        <p14:section name="DESCRIPTION" id="{F65A6C24-6EE3-4360-AB28-F6142E4BDD1F}">
          <p14:sldIdLst>
            <p14:sldId id="258"/>
          </p14:sldIdLst>
        </p14:section>
        <p14:section name="EXPLORATORY DATA ANALYSIS" id="{2636F816-3EDA-43AC-8B31-F2E3EA48817F}">
          <p14:sldIdLst>
            <p14:sldId id="272"/>
            <p14:sldId id="273"/>
            <p14:sldId id="259"/>
            <p14:sldId id="260"/>
            <p14:sldId id="261"/>
            <p14:sldId id="262"/>
            <p14:sldId id="263"/>
            <p14:sldId id="270"/>
            <p14:sldId id="274"/>
          </p14:sldIdLst>
        </p14:section>
        <p14:section name="MODELLING" id="{0DB157DB-9715-417A-9C01-CC957FA22086}">
          <p14:sldIdLst>
            <p14:sldId id="264"/>
            <p14:sldId id="275"/>
            <p14:sldId id="276"/>
            <p14:sldId id="27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1CF6B42-8098-4F97-AE66-53950D018D5B}" v="159" dt="2025-12-09T14:46:10.256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>
        <p:scale>
          <a:sx n="75" d="100"/>
          <a:sy n="75" d="100"/>
        </p:scale>
        <p:origin x="974" y="1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microsoft.com/office/2015/10/relationships/revisionInfo" Target="revisionInfo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018A91-BAD1-A46A-A6FA-B816CB5DB09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4AF6359-0179-6D48-5FA1-03B8F0FDC94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78853F4-8618-EE4F-40A2-FD1BE4379A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88CFD9-9733-4DC6-A68B-B7EE000F51F5}" type="datetimeFigureOut">
              <a:rPr lang="en-IN" smtClean="0"/>
              <a:t>09-12-2025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40EDB48-DBBB-6DAF-040A-A20940514B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BF1859-EE9A-4571-6B45-E1EEE71925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03AC74-BD19-4EDE-B23B-82B71D5AC33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9618628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788C99-C3F3-3314-3412-B8CBF55F1A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514EED-E91B-66E3-44D7-ED05069605E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24F4789-7C5E-3E49-64FA-913B769845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88CFD9-9733-4DC6-A68B-B7EE000F51F5}" type="datetimeFigureOut">
              <a:rPr lang="en-IN" smtClean="0"/>
              <a:t>09-12-2025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582CDEC-73DB-2D5F-FD06-0781024D2B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332A5B8-D120-BCB4-B72A-E1F4FBF20F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03AC74-BD19-4EDE-B23B-82B71D5AC33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0158132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3F8D59-2FAC-5079-1266-0037BDB8D8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2BA62F8-1895-E2AC-B18C-0EF504BCEC0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B05FEEA-ED27-D498-025E-CB7611EEB1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88CFD9-9733-4DC6-A68B-B7EE000F51F5}" type="datetimeFigureOut">
              <a:rPr lang="en-IN" smtClean="0"/>
              <a:t>09-12-2025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BC26F9B-2C25-22E2-E718-1EA7C7A18F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7347624-CECD-7090-6450-41AB6B6B6E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03AC74-BD19-4EDE-B23B-82B71D5AC33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20016324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573206-843E-F54C-6B96-55815E8F79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59240E-F676-F06E-2439-0369D9DF596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1F0ED94-80A6-4BAF-9009-59F70683166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56F3794-2A9E-7133-F9C9-DA187D96FE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88CFD9-9733-4DC6-A68B-B7EE000F51F5}" type="datetimeFigureOut">
              <a:rPr lang="en-IN" smtClean="0"/>
              <a:t>09-12-2025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8150882-9C01-E8DA-420D-7FF0898CE6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8CA007F-3C9D-138A-4B4E-5DD33D349F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03AC74-BD19-4EDE-B23B-82B71D5AC33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04953583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77D7DD-E115-FCA8-67EB-BAAFB8FDB5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5F919DA-EBE9-9101-51A1-95E6D33E7D9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08D1FE9-818D-8FAF-34FB-E3913FF0F74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1951BC4-A351-DC47-C046-B5E9FB719F7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A42DD68-6855-193D-6E34-85DEB2B16F8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7ECDDFE-BE7B-CC47-63E5-D96D838366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88CFD9-9733-4DC6-A68B-B7EE000F51F5}" type="datetimeFigureOut">
              <a:rPr lang="en-IN" smtClean="0"/>
              <a:t>09-12-2025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9B2A462-F636-07E5-4703-00CA2D615F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47D8BFE-F16B-7ED7-1534-97B987BC28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03AC74-BD19-4EDE-B23B-82B71D5AC33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24219337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DFB477-40B8-28CD-52D9-7146F4CB79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AC446E8-49C0-B9B4-8E77-DE17420448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88CFD9-9733-4DC6-A68B-B7EE000F51F5}" type="datetimeFigureOut">
              <a:rPr lang="en-IN" smtClean="0"/>
              <a:t>09-12-2025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DF3509B-EC39-2D4B-E94A-69194BCFFC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2B71EE4-1D2A-62DC-963E-D639AF00C3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03AC74-BD19-4EDE-B23B-82B71D5AC33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9452819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B74F7FB-4DE3-5EE6-F8A4-3BB5AE014E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88CFD9-9733-4DC6-A68B-B7EE000F51F5}" type="datetimeFigureOut">
              <a:rPr lang="en-IN" smtClean="0"/>
              <a:t>09-12-2025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797EB97-5888-3BFB-B363-1991C36A6C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C2DEF54-A0C6-8C98-D906-409CF19A51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03AC74-BD19-4EDE-B23B-82B71D5AC33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1068830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95FC0F-F9C3-9F50-8916-6213E4D771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91107E-E33A-772E-C39A-5E82B0F0F7E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5F1CB83-3B3E-DC6F-BC5F-C3F1FF068EB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BD4ADCE-DB18-F8BC-C9A2-832DF93341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88CFD9-9733-4DC6-A68B-B7EE000F51F5}" type="datetimeFigureOut">
              <a:rPr lang="en-IN" smtClean="0"/>
              <a:t>09-12-2025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8C6FFD6-AF17-C7BF-582E-831599310E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924AB84-CB0B-59E2-8EE7-AEAC82085F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03AC74-BD19-4EDE-B23B-82B71D5AC33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3086581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16FCFF-97A2-6E6A-475B-05AD9DF97D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5464E06-1EAB-8D82-417F-7D96A122326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38260E4-AD60-3AE4-2C06-7EACE67A29B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E091D2F-BD5F-7AB8-ADDA-0696EF6A4F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88CFD9-9733-4DC6-A68B-B7EE000F51F5}" type="datetimeFigureOut">
              <a:rPr lang="en-IN" smtClean="0"/>
              <a:t>09-12-2025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94EB9FC-C872-B023-C068-4D1DC484A9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2245D27-E9AF-B646-41CD-6B354542FC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03AC74-BD19-4EDE-B23B-82B71D5AC33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14676938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1113F9-9186-6732-E955-CB797E4B64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8DFA21E-0493-9A94-B175-B086D4F0E90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2626C1A-4C1E-87ED-0C66-203E090E34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88CFD9-9733-4DC6-A68B-B7EE000F51F5}" type="datetimeFigureOut">
              <a:rPr lang="en-IN" smtClean="0"/>
              <a:t>09-12-2025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55F4C4F-2216-9EBA-37CC-91C7D2155F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11CA276-1A9D-830A-BFAD-9F7D4AC711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03AC74-BD19-4EDE-B23B-82B71D5AC33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1844500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49B3EBF-16A4-8254-7F12-890374751D3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43F880A-7B75-A647-5884-088DBED1D36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4EA22CF-63C7-410A-744F-7B68CC46FB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88CFD9-9733-4DC6-A68B-B7EE000F51F5}" type="datetimeFigureOut">
              <a:rPr lang="en-IN" smtClean="0"/>
              <a:t>09-12-2025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63863D7-EF2E-7526-FCF3-AB02BE2ECF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F5F467C-9FE5-30B6-18FF-BB6D4A10A3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03AC74-BD19-4EDE-B23B-82B71D5AC33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06940784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6A3A334-4CA8-38CB-3F64-BAB42D2E4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B15E035-6324-0778-7BDF-E52368A4E29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6AFB33A-97FA-AA22-CACD-43DFC761E1F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888CFD9-9733-4DC6-A68B-B7EE000F51F5}" type="datetimeFigureOut">
              <a:rPr lang="en-IN" smtClean="0"/>
              <a:t>09-12-2025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E8651F3-9B0B-252F-C5A8-A03429D4AAC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E67AAC-1307-33EF-34DE-A440290B3D3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103AC74-BD19-4EDE-B23B-82B71D5AC33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691806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6E54EC-BE17-A62E-3B74-EAF2858FAA4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IN" b="1" dirty="0">
                <a:solidFill>
                  <a:schemeClr val="accent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CUSTOMER CHURN PREDICTION </a:t>
            </a:r>
            <a:endParaRPr lang="en-IN" dirty="0">
              <a:solidFill>
                <a:schemeClr val="accent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14B11F5-01A6-94C9-26AF-CB27E96DD0C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877341"/>
            <a:ext cx="9144000" cy="1655762"/>
          </a:xfrm>
        </p:spPr>
        <p:txBody>
          <a:bodyPr/>
          <a:lstStyle/>
          <a:p>
            <a:r>
              <a:rPr lang="en-US" i="1" dirty="0"/>
              <a:t>Did you know that attracting a new customer costs five times as much as keeping an existing one?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17445962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E9532E-33B3-5A54-1E07-2FCDA0994F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N" sz="4000" b="1" dirty="0">
                <a:solidFill>
                  <a:schemeClr val="accent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TELECOM CUSTOMER CHURN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10AFC0-880E-1BA9-5A22-BC1DB7990E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022270"/>
            <a:ext cx="10515600" cy="4351338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sz="24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What is Customer Churn?</a:t>
            </a:r>
          </a:p>
          <a:p>
            <a:pPr lvl="1"/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When customers discontinue using a telecom service.</a:t>
            </a:r>
          </a:p>
          <a:p>
            <a:pPr lvl="1"/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Telecom churn is high (15–25%) because switching providers is easy.</a:t>
            </a:r>
          </a:p>
          <a:p>
            <a:pPr marL="0" indent="0">
              <a:buNone/>
            </a:pPr>
            <a:r>
              <a:rPr lang="en-US" sz="24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Why is Churn a Major Problem?</a:t>
            </a:r>
          </a:p>
          <a:p>
            <a:pPr lvl="1"/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Retaining customers is </a:t>
            </a:r>
            <a:r>
              <a:rPr lang="en-US" sz="1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much cheaper</a:t>
            </a:r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than acquiring new ones.</a:t>
            </a:r>
          </a:p>
          <a:p>
            <a:pPr lvl="1"/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High churn directly reduces revenue, profit, and market share.</a:t>
            </a:r>
          </a:p>
          <a:p>
            <a:pPr marL="0" indent="0">
              <a:buNone/>
            </a:pPr>
            <a:r>
              <a:rPr lang="en-US" sz="24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Why Predict Churn?</a:t>
            </a:r>
          </a:p>
          <a:p>
            <a:pPr lvl="1"/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Companies cannot manually monitor millions of customers.</a:t>
            </a:r>
          </a:p>
          <a:p>
            <a:pPr lvl="1"/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Predicting churn helps identify </a:t>
            </a:r>
            <a:r>
              <a:rPr lang="en-US" sz="1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high-risk customers</a:t>
            </a:r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in advance.</a:t>
            </a:r>
          </a:p>
          <a:p>
            <a:pPr lvl="1"/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Enables targeted retention through discounts, offers, or improved service.</a:t>
            </a:r>
          </a:p>
          <a:p>
            <a:pPr lvl="1"/>
            <a:endParaRPr lang="en-US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457200" lvl="1" indent="0">
              <a:buNone/>
            </a:pPr>
            <a:r>
              <a:rPr lang="en-US" sz="1800" dirty="0"/>
              <a:t>Since churn is a binary outcome (Yes/No), classification algorithms are the appropriate choice for modelling.</a:t>
            </a:r>
            <a:endParaRPr lang="en-US" sz="1200" dirty="0"/>
          </a:p>
          <a:p>
            <a:pPr lvl="1"/>
            <a:endParaRPr lang="en-US" sz="1200" dirty="0"/>
          </a:p>
          <a:p>
            <a:endParaRPr lang="en-US" sz="1600" dirty="0"/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13439214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D47D47-28EE-159A-537B-75D99945CA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N" sz="4000" dirty="0">
                <a:solidFill>
                  <a:schemeClr val="accent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FEATURE DESCRIPTION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23E61B-4435-44AC-6261-3FC95DF963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40000" lnSpcReduction="20000"/>
          </a:bodyPr>
          <a:lstStyle/>
          <a:p>
            <a:endParaRPr lang="en-US" sz="4500" dirty="0"/>
          </a:p>
          <a:p>
            <a:r>
              <a:rPr lang="en-US" sz="45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CustomerID: </a:t>
            </a:r>
            <a:r>
              <a:rPr lang="en-IN" sz="45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Customer ID</a:t>
            </a:r>
            <a:endParaRPr lang="en-US" sz="45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45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Gender: </a:t>
            </a:r>
            <a:r>
              <a:rPr lang="en-US" sz="45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Whether the customer is a male or a female</a:t>
            </a:r>
          </a:p>
          <a:p>
            <a:r>
              <a:rPr lang="en-US" sz="45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SeniorCitizen: </a:t>
            </a:r>
            <a:r>
              <a:rPr lang="en-US" sz="45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Whether the customer is a senior citizen or not (1, 0)</a:t>
            </a:r>
          </a:p>
          <a:p>
            <a:r>
              <a:rPr lang="en-US" sz="45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Partner: </a:t>
            </a:r>
            <a:r>
              <a:rPr lang="en-US" sz="45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Whether the customer has a partner or not (Yes, No) 	</a:t>
            </a:r>
          </a:p>
          <a:p>
            <a:r>
              <a:rPr lang="en-US" sz="45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Dependents: </a:t>
            </a:r>
            <a:r>
              <a:rPr lang="en-US" sz="45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Whether the customer has dependents or not (Yes, No)</a:t>
            </a:r>
          </a:p>
          <a:p>
            <a:r>
              <a:rPr lang="en-US" sz="45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Tenure: </a:t>
            </a:r>
            <a:r>
              <a:rPr lang="en-US" sz="45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Number of months the customer has stayed with the company</a:t>
            </a:r>
          </a:p>
          <a:p>
            <a:r>
              <a:rPr lang="en-US" sz="45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PhoneService: </a:t>
            </a:r>
            <a:r>
              <a:rPr lang="en-US" sz="45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Whether the customer has a phone service or not (Yes, No)</a:t>
            </a:r>
          </a:p>
          <a:p>
            <a:r>
              <a:rPr lang="en-US" sz="45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MultipleLines: </a:t>
            </a:r>
            <a:r>
              <a:rPr lang="en-US" sz="45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Whether the customer has multiple lines or not (Yes, No, No phone service)</a:t>
            </a:r>
          </a:p>
          <a:p>
            <a:r>
              <a:rPr lang="en-US" sz="45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InternetService: </a:t>
            </a:r>
            <a:r>
              <a:rPr lang="en-IN" sz="45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Customer’s internet service provider (DSL, Fiber optic, No)</a:t>
            </a:r>
            <a:endParaRPr lang="en-US" sz="45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45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OnlineSecurity</a:t>
            </a:r>
            <a:r>
              <a:rPr lang="en-US" sz="45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Whether the customer has online security or not (Yes, No, No internet service)</a:t>
            </a:r>
          </a:p>
          <a:p>
            <a:r>
              <a:rPr lang="en-US" sz="45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MonthlyCharge: </a:t>
            </a:r>
            <a:r>
              <a:rPr lang="en-US" sz="45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 amount a customer pays every month for their telecom plan.</a:t>
            </a:r>
          </a:p>
          <a:p>
            <a:r>
              <a:rPr lang="en-US" sz="45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TotalCharge: </a:t>
            </a:r>
            <a:r>
              <a:rPr lang="en-US" sz="45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 total amount of money the customer has paid to the telecom company so far since joining.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71565686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8328CB-BC90-C260-9B56-A355C95CF3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N" sz="4000" dirty="0">
                <a:solidFill>
                  <a:schemeClr val="accent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Histogram Distribution 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3E95A1B8-FEB5-F5BF-0C1B-766FB03FB240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5353" y="2141537"/>
            <a:ext cx="10026995" cy="43513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A20CB5E0-9ED8-AF98-96D8-331263F48BE9}"/>
              </a:ext>
            </a:extLst>
          </p:cNvPr>
          <p:cNvSpPr txBox="1"/>
          <p:nvPr/>
        </p:nvSpPr>
        <p:spPr>
          <a:xfrm>
            <a:off x="838200" y="1536799"/>
            <a:ext cx="1020493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This graph shows the data before and after applying outlier removal using the Z-score method.</a:t>
            </a:r>
            <a:endParaRPr lang="en-IN" sz="14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278360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100846-4DFC-5615-473B-4C86EFB0A71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52052"/>
            <a:ext cx="10515600" cy="5095415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sz="1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From Above image we observe that:</a:t>
            </a:r>
          </a:p>
          <a:p>
            <a:pPr marL="0" indent="0">
              <a:buNone/>
            </a:pPr>
            <a:endParaRPr lang="en-US" sz="1700" b="1" dirty="0"/>
          </a:p>
          <a:p>
            <a:pPr marL="0" indent="0">
              <a:buNone/>
            </a:pPr>
            <a:r>
              <a:rPr lang="en-US" sz="1400" b="1" dirty="0"/>
              <a:t>1. Tenure Distribution</a:t>
            </a:r>
            <a:endParaRPr lang="en-US" sz="1400" dirty="0"/>
          </a:p>
          <a:p>
            <a:r>
              <a:rPr lang="en-US" sz="1400" dirty="0"/>
              <a:t>Findings: Most customers fall between 0–12 months; cleaning didn’t change the shape.</a:t>
            </a:r>
          </a:p>
          <a:p>
            <a:r>
              <a:rPr lang="en-US" sz="1400" dirty="0"/>
              <a:t>Insights: Customer base is dominated by new users.</a:t>
            </a:r>
          </a:p>
          <a:p>
            <a:r>
              <a:rPr lang="en-US" sz="1400" dirty="0"/>
              <a:t>Recommendation: Strengthen early onboarding and first-90-days engagement.</a:t>
            </a:r>
          </a:p>
          <a:p>
            <a:endParaRPr lang="en-US" sz="1400" dirty="0"/>
          </a:p>
          <a:p>
            <a:pPr marL="0" indent="0">
              <a:buNone/>
            </a:pPr>
            <a:r>
              <a:rPr lang="en-US" sz="1400" b="1" dirty="0"/>
              <a:t>2. MonthlyCharges Distribution</a:t>
            </a:r>
            <a:endParaRPr lang="en-US" sz="1400" dirty="0"/>
          </a:p>
          <a:p>
            <a:r>
              <a:rPr lang="en-US" sz="1400" dirty="0"/>
              <a:t>Findings: Two charge groups appear (low 15–40, high 70–110); no major outliers.</a:t>
            </a:r>
          </a:p>
          <a:p>
            <a:r>
              <a:rPr lang="en-US" sz="1400" dirty="0"/>
              <a:t>Insights: High-charge customers form the largest segment and are more churn-prone.</a:t>
            </a:r>
          </a:p>
          <a:p>
            <a:r>
              <a:rPr lang="en-US" sz="1400" dirty="0"/>
              <a:t>Recommendation: Offer flexible or discounted plan options for high-paying users.</a:t>
            </a:r>
          </a:p>
          <a:p>
            <a:endParaRPr lang="en-US" sz="1400" dirty="0"/>
          </a:p>
          <a:p>
            <a:pPr marL="0" indent="0">
              <a:buNone/>
            </a:pPr>
            <a:r>
              <a:rPr lang="en-US" sz="1400" b="1" dirty="0"/>
              <a:t>3. TotalCharges Distribution</a:t>
            </a:r>
            <a:endParaRPr lang="en-US" sz="1400" dirty="0"/>
          </a:p>
          <a:p>
            <a:r>
              <a:rPr lang="en-US" sz="1400" dirty="0"/>
              <a:t>Findings: Strong right skew; low values for new customers, high values for long-term users.</a:t>
            </a:r>
          </a:p>
          <a:p>
            <a:r>
              <a:rPr lang="en-US" sz="1400" dirty="0"/>
              <a:t>Insights: TotalCharges reflects customer age — low values = new customers.</a:t>
            </a:r>
          </a:p>
          <a:p>
            <a:r>
              <a:rPr lang="en-US" sz="1400" dirty="0"/>
              <a:t>Recommendation: Target low-</a:t>
            </a:r>
            <a:r>
              <a:rPr lang="en-US" sz="1400" dirty="0" err="1"/>
              <a:t>TotalCharge</a:t>
            </a:r>
            <a:r>
              <a:rPr lang="en-US" sz="1400" dirty="0"/>
              <a:t> users with retention programs and long-term offers.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93326047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B56170-9BB1-E5C5-4216-5CF5DE6D5E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N" sz="4000" dirty="0">
                <a:solidFill>
                  <a:schemeClr val="accent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Box Plot 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DA3D3E57-F9DF-7719-45A9-362540FB4889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0145" y="2899276"/>
            <a:ext cx="6318517" cy="35935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C86B817F-0C6A-4232-1722-45BFAD5F1C8D}"/>
              </a:ext>
            </a:extLst>
          </p:cNvPr>
          <p:cNvSpPr txBox="1"/>
          <p:nvPr/>
        </p:nvSpPr>
        <p:spPr>
          <a:xfrm>
            <a:off x="1016000" y="1483360"/>
            <a:ext cx="10337800" cy="11387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Tenure and MonthlyCharges show wider spread and higher medians, indicating more variability and generally higher normalized values compared to </a:t>
            </a:r>
            <a:r>
              <a:rPr lang="en-US" sz="14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SeniorCitizen</a:t>
            </a:r>
            <a:r>
              <a:rPr lang="en-US" sz="1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and TotalCharges.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4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SeniorCitizen</a:t>
            </a:r>
            <a:r>
              <a:rPr lang="en-US" sz="1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is mostly near zero with a few outliers, while TotalCharges has a lower median and moderate spread, suggesting most customers have relatively lower scaled total charges.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IN" sz="1200" dirty="0"/>
          </a:p>
        </p:txBody>
      </p:sp>
    </p:spTree>
    <p:extLst>
      <p:ext uri="{BB962C8B-B14F-4D97-AF65-F5344CB8AC3E}">
        <p14:creationId xmlns:p14="http://schemas.microsoft.com/office/powerpoint/2010/main" val="181767451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6A7C49-3D28-DEA3-956B-346AFDCE84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3080" y="233859"/>
            <a:ext cx="10515600" cy="1325563"/>
          </a:xfrm>
        </p:spPr>
        <p:txBody>
          <a:bodyPr>
            <a:normAutofit/>
          </a:bodyPr>
          <a:lstStyle/>
          <a:p>
            <a:r>
              <a:rPr lang="en-IN" sz="4000" dirty="0">
                <a:solidFill>
                  <a:schemeClr val="accent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Kernal Density Estimate Plot : Tenure</a:t>
            </a:r>
          </a:p>
        </p:txBody>
      </p:sp>
      <p:pic>
        <p:nvPicPr>
          <p:cNvPr id="2052" name="Picture 4">
            <a:extLst>
              <a:ext uri="{FF2B5EF4-FFF2-40B4-BE49-F238E27FC236}">
                <a16:creationId xmlns:a16="http://schemas.microsoft.com/office/drawing/2014/main" id="{95D5C987-0231-8678-E28A-417A241EBF64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1040" y="2844850"/>
            <a:ext cx="7223774" cy="35661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B7A7DDE0-B34E-DE85-DE27-24595A480E1F}"/>
              </a:ext>
            </a:extLst>
          </p:cNvPr>
          <p:cNvSpPr txBox="1"/>
          <p:nvPr/>
        </p:nvSpPr>
        <p:spPr>
          <a:xfrm>
            <a:off x="975360" y="1690688"/>
            <a:ext cx="10515600" cy="12926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 </a:t>
            </a:r>
            <a:r>
              <a:rPr lang="en-US" sz="1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1. </a:t>
            </a:r>
            <a:r>
              <a:rPr lang="en-US" sz="14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Tenure vs Churn</a:t>
            </a:r>
          </a:p>
          <a:p>
            <a:r>
              <a:rPr lang="en-US" sz="14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Findings:</a:t>
            </a:r>
            <a:r>
              <a:rPr lang="en-US" sz="1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 Customers with very low tenure (0–12 months) show a much higher churn density.</a:t>
            </a:r>
          </a:p>
          <a:p>
            <a:r>
              <a:rPr lang="en-US" sz="14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Insights:</a:t>
            </a:r>
            <a:r>
              <a:rPr lang="en-US" sz="1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 Churners are mainly new customers who leave early in their lifecycle.</a:t>
            </a:r>
          </a:p>
          <a:p>
            <a:r>
              <a:rPr lang="en-US" sz="14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Recommendation:</a:t>
            </a:r>
            <a:r>
              <a:rPr lang="en-US" sz="1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 Implement a strong onboarding + first-90-days retention strategy.</a:t>
            </a:r>
          </a:p>
          <a:p>
            <a:endParaRPr lang="en-IN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6037992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AA92AC-EB80-DCE4-0A7F-2A9899116C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845800" cy="1325563"/>
          </a:xfrm>
        </p:spPr>
        <p:txBody>
          <a:bodyPr>
            <a:normAutofit/>
          </a:bodyPr>
          <a:lstStyle/>
          <a:p>
            <a:r>
              <a:rPr lang="en-IN" sz="4000" dirty="0">
                <a:solidFill>
                  <a:schemeClr val="accent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Kernal Density Estimate Plot : MonthlyCharges</a:t>
            </a:r>
            <a:endParaRPr lang="en-IN" sz="40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BA6A920A-387C-A2B1-E402-7D6EBAB1A65E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5480" y="2926708"/>
            <a:ext cx="7205486" cy="35661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3A96579D-0C74-5791-2DDF-06BD22007A5E}"/>
              </a:ext>
            </a:extLst>
          </p:cNvPr>
          <p:cNvSpPr txBox="1"/>
          <p:nvPr/>
        </p:nvSpPr>
        <p:spPr>
          <a:xfrm>
            <a:off x="838200" y="1849120"/>
            <a:ext cx="11150600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2. MonthlyCharges vs Churn</a:t>
            </a:r>
          </a:p>
          <a:p>
            <a:r>
              <a:rPr lang="en-US" sz="14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Findings:</a:t>
            </a:r>
            <a:r>
              <a:rPr lang="en-US" sz="1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 Churn probability is higher for customers paying higher monthly charges (≈ $70–100).</a:t>
            </a:r>
          </a:p>
          <a:p>
            <a:r>
              <a:rPr lang="en-US" sz="14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Insights:</a:t>
            </a:r>
            <a:r>
              <a:rPr lang="en-US" sz="1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 High-priced plans are perceived as expensive or poor value, pushing customers out.</a:t>
            </a:r>
          </a:p>
          <a:p>
            <a:r>
              <a:rPr lang="en-US" sz="14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Recommendation:</a:t>
            </a:r>
            <a:r>
              <a:rPr lang="en-US" sz="1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 Introduce flexible/cheaper versions of high-priced plans.</a:t>
            </a:r>
          </a:p>
        </p:txBody>
      </p:sp>
    </p:spTree>
    <p:extLst>
      <p:ext uri="{BB962C8B-B14F-4D97-AF65-F5344CB8AC3E}">
        <p14:creationId xmlns:p14="http://schemas.microsoft.com/office/powerpoint/2010/main" val="383865924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B919C5-559A-A9EB-BD59-D12818D508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>
                <a:solidFill>
                  <a:schemeClr val="accent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Kernal Density Estimate Plot : TotalCharges</a:t>
            </a:r>
            <a:endParaRPr lang="en-IN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2FABA723-DA3B-1BA9-8812-2825EEAA0D92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200" y="2794628"/>
            <a:ext cx="7214630" cy="35661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2D764A8B-30BD-CE8F-322B-900638FDED79}"/>
              </a:ext>
            </a:extLst>
          </p:cNvPr>
          <p:cNvSpPr txBox="1"/>
          <p:nvPr/>
        </p:nvSpPr>
        <p:spPr>
          <a:xfrm>
            <a:off x="690880" y="1493520"/>
            <a:ext cx="10993120" cy="13388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3. TotalCharges vs Churn</a:t>
            </a:r>
          </a:p>
          <a:p>
            <a:r>
              <a:rPr lang="en-US" sz="14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Findings:</a:t>
            </a:r>
            <a:r>
              <a:rPr lang="en-US" sz="1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 Customers with high total charges (loyal customers) show very low churn.</a:t>
            </a:r>
          </a:p>
          <a:p>
            <a:r>
              <a:rPr lang="en-US" sz="14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Insights:</a:t>
            </a:r>
            <a:r>
              <a:rPr lang="en-US" sz="1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 TotalCharges acts as a proxy for tenure — low total spend = new customers. Customers with higher lifetime value (LTV) tend to stay longer.</a:t>
            </a:r>
          </a:p>
          <a:p>
            <a:r>
              <a:rPr lang="en-US" sz="14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Recommendation:</a:t>
            </a:r>
            <a:r>
              <a:rPr lang="en-US" sz="1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 Identify low-</a:t>
            </a:r>
            <a:r>
              <a:rPr lang="en-US" sz="14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TotalCharge</a:t>
            </a:r>
            <a:r>
              <a:rPr lang="en-US" sz="1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customers as early churn risk. Encourage long-term commitment using:1-year or 2-year contract discounts</a:t>
            </a:r>
          </a:p>
          <a:p>
            <a:endParaRPr lang="en-IN" sz="1100" dirty="0"/>
          </a:p>
        </p:txBody>
      </p:sp>
    </p:spTree>
    <p:extLst>
      <p:ext uri="{BB962C8B-B14F-4D97-AF65-F5344CB8AC3E}">
        <p14:creationId xmlns:p14="http://schemas.microsoft.com/office/powerpoint/2010/main" val="66706270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CC70B8-71DF-D33F-396E-68A548F149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1040" y="241519"/>
            <a:ext cx="10515600" cy="1325563"/>
          </a:xfrm>
        </p:spPr>
        <p:txBody>
          <a:bodyPr>
            <a:normAutofit/>
          </a:bodyPr>
          <a:lstStyle/>
          <a:p>
            <a:r>
              <a:rPr lang="en-IN" sz="4000" dirty="0">
                <a:solidFill>
                  <a:schemeClr val="accent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100% Stacked Churn Distribution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A8F0E67-AB6A-1E34-4ABB-FDA5ABB83848}"/>
              </a:ext>
            </a:extLst>
          </p:cNvPr>
          <p:cNvSpPr txBox="1"/>
          <p:nvPr/>
        </p:nvSpPr>
        <p:spPr>
          <a:xfrm>
            <a:off x="701040" y="1294771"/>
            <a:ext cx="11115040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.</a:t>
            </a:r>
          </a:p>
          <a:p>
            <a:r>
              <a:rPr lang="en-US" sz="1200" dirty="0"/>
              <a:t>Recommendation: Offer family bundles or multi-device discounts to attract</a:t>
            </a:r>
            <a:r>
              <a:rPr lang="en-IN" sz="1200" dirty="0"/>
              <a:t>From the visualization that, we understand </a:t>
            </a:r>
          </a:p>
          <a:p>
            <a:r>
              <a:rPr lang="en-US" sz="1200" b="1" dirty="0"/>
              <a:t>1. Gender vs Churn</a:t>
            </a:r>
          </a:p>
          <a:p>
            <a:r>
              <a:rPr lang="en-US" sz="1200" dirty="0"/>
              <a:t>Findings: Churn rate is slightly higher for females compared to males.</a:t>
            </a:r>
          </a:p>
          <a:p>
            <a:r>
              <a:rPr lang="en-US" sz="1200" dirty="0"/>
              <a:t>Insights: Gender has only a mild effect on churn — not a strong predictor.</a:t>
            </a:r>
          </a:p>
          <a:p>
            <a:r>
              <a:rPr lang="en-US" sz="1200" dirty="0"/>
              <a:t>Recommendation: No gender-based customer strategy required; focus on stronger churn drivers.</a:t>
            </a:r>
          </a:p>
          <a:p>
            <a:endParaRPr lang="en-US" sz="1200" b="1" dirty="0"/>
          </a:p>
          <a:p>
            <a:r>
              <a:rPr lang="en-US" sz="1200" b="1" dirty="0"/>
              <a:t>2. Partner vs Churn</a:t>
            </a:r>
          </a:p>
          <a:p>
            <a:r>
              <a:rPr lang="en-US" sz="1200" dirty="0"/>
              <a:t>Findings: Customers without partners churn at a much higher rate.</a:t>
            </a:r>
          </a:p>
          <a:p>
            <a:r>
              <a:rPr lang="en-US" sz="1200" dirty="0"/>
              <a:t>Insights: Single or living-alone customers may have lower stickiness or income stability.</a:t>
            </a:r>
          </a:p>
          <a:p>
            <a:r>
              <a:rPr lang="en-US" sz="1200" dirty="0"/>
              <a:t>Recommendation: Create loyalty perks / bundles to improve retention among non-partner customers.</a:t>
            </a:r>
          </a:p>
          <a:p>
            <a:endParaRPr lang="en-US" sz="1200" dirty="0"/>
          </a:p>
          <a:p>
            <a:r>
              <a:rPr lang="en-US" sz="1200" b="1" dirty="0"/>
              <a:t>3. Dependents vs Churn</a:t>
            </a:r>
          </a:p>
          <a:p>
            <a:r>
              <a:rPr lang="en-US" sz="1200" dirty="0"/>
              <a:t>Findings: Customers without dependents churn more often.</a:t>
            </a:r>
          </a:p>
          <a:p>
            <a:r>
              <a:rPr lang="en-US" sz="1200" dirty="0"/>
              <a:t>Insights: Families (with dependents) are more stable and value consistent service and retain this group.</a:t>
            </a:r>
          </a:p>
          <a:p>
            <a:endParaRPr lang="en-IN" sz="1200" dirty="0"/>
          </a:p>
        </p:txBody>
      </p:sp>
      <p:pic>
        <p:nvPicPr>
          <p:cNvPr id="6" name="Content Placeholder 5" descr="A screenshot of a graph&#10;&#10;AI-generated content may be incorrect.">
            <a:extLst>
              <a:ext uri="{FF2B5EF4-FFF2-40B4-BE49-F238E27FC236}">
                <a16:creationId xmlns:a16="http://schemas.microsoft.com/office/drawing/2014/main" id="{7287A475-0FDF-1A74-2E20-1F18720BEE7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701040" y="4526425"/>
            <a:ext cx="10515600" cy="20900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6691176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7DC02A-BC5F-4219-A071-D34DAF702D4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6303" y="527766"/>
            <a:ext cx="10515600" cy="4351338"/>
          </a:xfrm>
        </p:spPr>
        <p:txBody>
          <a:bodyPr>
            <a:normAutofit/>
          </a:bodyPr>
          <a:lstStyle/>
          <a:p>
            <a:r>
              <a:rPr lang="en-US" sz="1200" b="1" dirty="0"/>
              <a:t>4. InternetService vs Churn</a:t>
            </a:r>
          </a:p>
          <a:p>
            <a:r>
              <a:rPr lang="en-US" sz="1200" dirty="0"/>
              <a:t>Findings: Fiber optic users have the highest churn. DSL has moderate churn; No-internet-service customers have very low churn.</a:t>
            </a:r>
          </a:p>
          <a:p>
            <a:r>
              <a:rPr lang="en-US" sz="1200" dirty="0"/>
              <a:t>Insights: Fiber optic plans are expensive — pushing price-sensitive customers to churn.</a:t>
            </a:r>
          </a:p>
          <a:p>
            <a:r>
              <a:rPr lang="en-US" sz="1200" dirty="0"/>
              <a:t>Recommendation: Reduce price friction for fiber plans through discounts or flexible billing.</a:t>
            </a:r>
          </a:p>
          <a:p>
            <a:r>
              <a:rPr lang="en-US" sz="1200" b="1" dirty="0"/>
              <a:t>5. StreamingMovies vs Churn</a:t>
            </a:r>
          </a:p>
          <a:p>
            <a:r>
              <a:rPr lang="en-US" sz="1200" dirty="0"/>
              <a:t>Findings: Customers using streaming services (Movies/TV) churn slightly more than those who do not.</a:t>
            </a:r>
          </a:p>
          <a:p>
            <a:r>
              <a:rPr lang="en-US" sz="1200" dirty="0"/>
              <a:t>Insights: Heavy service users may be more aware of performance issues (speed/quality).</a:t>
            </a:r>
          </a:p>
          <a:p>
            <a:r>
              <a:rPr lang="en-US" sz="1200" dirty="0"/>
              <a:t>Recommendation: Ensure strong performance and promote streaming-optimized internet packages.</a:t>
            </a:r>
          </a:p>
          <a:p>
            <a:r>
              <a:rPr lang="en-US" sz="1200" b="1" dirty="0"/>
              <a:t>6. Contract Type vs Churn</a:t>
            </a:r>
          </a:p>
          <a:p>
            <a:r>
              <a:rPr lang="en-US" sz="1200" dirty="0"/>
              <a:t>Findings: Highest churn: Month-to-month, Lowest churn: Two-year contract</a:t>
            </a:r>
          </a:p>
          <a:p>
            <a:r>
              <a:rPr lang="en-US" sz="1200" dirty="0"/>
              <a:t>Insights: Short-term contracts give customers easy exit options → more churn.</a:t>
            </a:r>
          </a:p>
          <a:p>
            <a:r>
              <a:rPr lang="en-US" sz="1200" dirty="0"/>
              <a:t>Recommendation: Push customers toward annual or two-year contracts using discounts or perks.</a:t>
            </a:r>
          </a:p>
          <a:p>
            <a:endParaRPr lang="en-IN" dirty="0"/>
          </a:p>
        </p:txBody>
      </p:sp>
      <p:pic>
        <p:nvPicPr>
          <p:cNvPr id="5" name="Picture 4" descr="A graph with a number of blue and orange bars&#10;&#10;AI-generated content may be incorrect.">
            <a:extLst>
              <a:ext uri="{FF2B5EF4-FFF2-40B4-BE49-F238E27FC236}">
                <a16:creationId xmlns:a16="http://schemas.microsoft.com/office/drawing/2014/main" id="{9B585062-47B6-0988-ECEF-CBC7DD1C229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7594" y="4241403"/>
            <a:ext cx="10805652" cy="2282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5803509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 descr="A comparison of a bar graph&#10;&#10;AI-generated content may be incorrect.">
            <a:extLst>
              <a:ext uri="{FF2B5EF4-FFF2-40B4-BE49-F238E27FC236}">
                <a16:creationId xmlns:a16="http://schemas.microsoft.com/office/drawing/2014/main" id="{C6C07927-86FB-824A-5974-3BF62ECB390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t="4999"/>
          <a:stretch>
            <a:fillRect/>
          </a:stretch>
        </p:blipFill>
        <p:spPr>
          <a:xfrm>
            <a:off x="1167739" y="3429000"/>
            <a:ext cx="8735644" cy="2552146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128589FD-62AE-0254-456A-AC6709C4FFA5}"/>
              </a:ext>
            </a:extLst>
          </p:cNvPr>
          <p:cNvSpPr txBox="1"/>
          <p:nvPr/>
        </p:nvSpPr>
        <p:spPr>
          <a:xfrm>
            <a:off x="768145" y="978279"/>
            <a:ext cx="10655710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7. PaperlessBilling vs Churn</a:t>
            </a:r>
          </a:p>
          <a:p>
            <a:r>
              <a:rPr lang="en-US" sz="1200" dirty="0"/>
              <a:t>Findings: Paperless billing customers churn more.</a:t>
            </a:r>
          </a:p>
          <a:p>
            <a:r>
              <a:rPr lang="en-US" sz="1200" dirty="0"/>
              <a:t>Insights: Paperless billing often correlates with month-to-month contracts and digital-only customers</a:t>
            </a:r>
          </a:p>
          <a:p>
            <a:r>
              <a:rPr lang="en-US" sz="1200" dirty="0"/>
              <a:t>Recommendation: Provide incentives for paperless customers to move to long-term contracts.</a:t>
            </a:r>
          </a:p>
          <a:p>
            <a:endParaRPr lang="en-US" sz="1200" dirty="0"/>
          </a:p>
          <a:p>
            <a:r>
              <a:rPr lang="en-US" sz="1200" b="1" dirty="0"/>
              <a:t>8. PaymentMethod vs Churn</a:t>
            </a:r>
          </a:p>
          <a:p>
            <a:r>
              <a:rPr lang="en-US" sz="1200" dirty="0"/>
              <a:t>Findings: Highest churn: Electronic check users, Lowest churn: Automatic bank transfer / Credit card automatic</a:t>
            </a:r>
          </a:p>
          <a:p>
            <a:r>
              <a:rPr lang="en-US" sz="1200" dirty="0"/>
              <a:t>Insights: Electronic check users may face payment friction causing churn. Autopay customers are more stable and low-risk.</a:t>
            </a:r>
          </a:p>
          <a:p>
            <a:r>
              <a:rPr lang="en-US" sz="1200" dirty="0"/>
              <a:t>Recommendation: Promote auto-debit payment options with incentives (cashback/small discounts).</a:t>
            </a:r>
          </a:p>
          <a:p>
            <a:endParaRPr lang="en-IN" sz="1200" dirty="0"/>
          </a:p>
        </p:txBody>
      </p:sp>
    </p:spTree>
    <p:extLst>
      <p:ext uri="{BB962C8B-B14F-4D97-AF65-F5344CB8AC3E}">
        <p14:creationId xmlns:p14="http://schemas.microsoft.com/office/powerpoint/2010/main" val="33865596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B5FBDA-27FE-D69C-1EF2-B1FAE4C11B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>
                <a:solidFill>
                  <a:schemeClr val="accent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Modelling</a:t>
            </a:r>
            <a:endParaRPr lang="en-IN" sz="4000" dirty="0">
              <a:solidFill>
                <a:schemeClr val="accent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D03E498-7427-2420-34D5-39F0F6217D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1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 dataset was divided into Training and Testing sets using an 80:20 ratio. This means 80% of the data was used to train the model, and the remaining 20% was used to evaluate its performance.</a:t>
            </a:r>
          </a:p>
          <a:p>
            <a:r>
              <a:rPr lang="en-US" sz="1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 target variable for prediction is </a:t>
            </a:r>
            <a:r>
              <a:rPr lang="en-US" sz="14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Churn</a:t>
            </a:r>
            <a:r>
              <a:rPr lang="en-US" sz="1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.</a:t>
            </a:r>
            <a:br>
              <a:rPr lang="en-US" sz="1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en-US" sz="1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Churn indicates whether a customer leaves the service (Yes) or stays (No). All other columns in the dataset act as independent (input) features.</a:t>
            </a:r>
          </a:p>
          <a:p>
            <a:r>
              <a:rPr lang="en-US" sz="1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All other columns in the dataset act as independent (input) features.</a:t>
            </a:r>
            <a:br>
              <a:rPr lang="en-US" sz="1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en-US" sz="1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These include demographic details, service-related fields, and account information that help the model learn patterns related to churn.</a:t>
            </a:r>
          </a:p>
          <a:p>
            <a:r>
              <a:rPr lang="en-US" sz="1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 purpose of the split is to ensure the model learns from one portion of the data (training set) and is evaluated on completely unseen data (testing set) — this avoids overfitting and ensures reliable performance measurement.</a:t>
            </a:r>
          </a:p>
          <a:p>
            <a:endParaRPr lang="en-IN" dirty="0"/>
          </a:p>
        </p:txBody>
      </p:sp>
      <p:pic>
        <p:nvPicPr>
          <p:cNvPr id="7" name="Picture 6" descr="A computer code with black text">
            <a:extLst>
              <a:ext uri="{FF2B5EF4-FFF2-40B4-BE49-F238E27FC236}">
                <a16:creationId xmlns:a16="http://schemas.microsoft.com/office/drawing/2014/main" id="{0AE7F778-341A-E6C0-EE15-CAB3040AD13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7973"/>
          <a:stretch>
            <a:fillRect/>
          </a:stretch>
        </p:blipFill>
        <p:spPr>
          <a:xfrm>
            <a:off x="999324" y="4521902"/>
            <a:ext cx="9126224" cy="11572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103777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1DACF2-AFCD-0CB3-DBFA-13FEC783F1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N" sz="4000" dirty="0">
                <a:solidFill>
                  <a:schemeClr val="accent1"/>
                </a:solidFill>
              </a:rPr>
              <a:t>Train–Test Churn Distribution</a:t>
            </a:r>
          </a:p>
        </p:txBody>
      </p:sp>
      <p:pic>
        <p:nvPicPr>
          <p:cNvPr id="5" name="Content Placeholder 4" descr="A number with numbers on it&#10;&#10;AI-generated content may be incorrect.">
            <a:extLst>
              <a:ext uri="{FF2B5EF4-FFF2-40B4-BE49-F238E27FC236}">
                <a16:creationId xmlns:a16="http://schemas.microsoft.com/office/drawing/2014/main" id="{E3C62002-431B-19DD-E208-03AB8E21C14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808481" y="4163427"/>
            <a:ext cx="3391872" cy="1472627"/>
          </a:xfrm>
          <a:prstGeom prst="rect">
            <a:avLst/>
          </a:prstGeom>
        </p:spPr>
      </p:pic>
      <p:pic>
        <p:nvPicPr>
          <p:cNvPr id="2050" name="Picture 2">
            <a:extLst>
              <a:ext uri="{FF2B5EF4-FFF2-40B4-BE49-F238E27FC236}">
                <a16:creationId xmlns:a16="http://schemas.microsoft.com/office/drawing/2014/main" id="{1AA415E8-D851-3EB7-711D-6070E761712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18517" y="1742354"/>
            <a:ext cx="5670293" cy="45466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3DB74145-5C6A-B00E-6423-970C16A09D11}"/>
              </a:ext>
            </a:extLst>
          </p:cNvPr>
          <p:cNvSpPr txBox="1"/>
          <p:nvPr/>
        </p:nvSpPr>
        <p:spPr>
          <a:xfrm>
            <a:off x="919480" y="1988339"/>
            <a:ext cx="5176520" cy="187743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sz="1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 train and test sets have nearly identical churn ratios, ensuring a balanced and unbiased model evaluation.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endParaRPr lang="en-US" altLang="en-US" sz="14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sz="1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Non-churn customers (Class 0) make up around 73–74% in both sets.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endParaRPr lang="en-US" altLang="en-US" sz="14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sz="1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Churn customers (Class 1) make up around 26–27% in both sets.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93166431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1041AB-BE3A-B27D-F220-49ED4BE438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2120" y="292865"/>
            <a:ext cx="10515600" cy="1325563"/>
          </a:xfrm>
        </p:spPr>
        <p:txBody>
          <a:bodyPr>
            <a:normAutofit/>
          </a:bodyPr>
          <a:lstStyle/>
          <a:p>
            <a:r>
              <a:rPr lang="en-IN" sz="4000" dirty="0">
                <a:solidFill>
                  <a:schemeClr val="accent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Model Evaluation (Classification)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11ABAC67-1F47-4E14-E424-5267CD1FA8C4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664807" y="2047320"/>
            <a:ext cx="5827433" cy="418576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en-US" altLang="en-US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Accuracy: </a:t>
            </a:r>
            <a:r>
              <a:rPr lang="en-US" sz="1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Measures how many predictions are correct out of all predictions.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endParaRPr kumimoji="0" lang="en-US" altLang="en-US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en-US" altLang="en-US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Precision: 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Of the customers predicted as churn, how many actually churned</a:t>
            </a:r>
            <a:r>
              <a:rPr kumimoji="0" lang="en-US" altLang="en-US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? </a:t>
            </a:r>
            <a:r>
              <a:rPr lang="en-US" sz="1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Useful when false positives matter. </a:t>
            </a:r>
            <a:r>
              <a:rPr kumimoji="0" lang="en-US" altLang="en-US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IN" sz="1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Precision = TP / (TP + FP))</a:t>
            </a:r>
          </a:p>
          <a:p>
            <a:pPr marL="457200" lvl="1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kumimoji="0" lang="en-US" altLang="en-US" sz="14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Recall (Sensitivity): 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Of all actual churners, how many the model correctly identified.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en-US" altLang="en-US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F1 Score: 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Balance between Precision and Recall(</a:t>
            </a:r>
            <a:r>
              <a:rPr lang="en-US" sz="1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Harmonic mean of Precision and Recall)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; best for imbalanced datasets.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Confusion Matrix: 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Shows TP, TN, FP, FN to understand model’s types of errors.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en-US" altLang="en-US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ROC–AUC Score: 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Shows how well the model separates churn vs. non-churn cases. </a:t>
            </a:r>
            <a:r>
              <a:rPr lang="en-IN" sz="1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AUC closer to 1.0 = excellent classifier.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Classification Report: 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Detailed summary of Precision, Recall, and F1 for each class.</a:t>
            </a:r>
          </a:p>
        </p:txBody>
      </p:sp>
      <p:pic>
        <p:nvPicPr>
          <p:cNvPr id="6" name="Picture 5" descr="A screenshot of a computer&#10;&#10;AI-generated content may be incorrect.">
            <a:extLst>
              <a:ext uri="{FF2B5EF4-FFF2-40B4-BE49-F238E27FC236}">
                <a16:creationId xmlns:a16="http://schemas.microsoft.com/office/drawing/2014/main" id="{777ABA95-CADF-25BD-7C17-13EA41DDD80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3146"/>
          <a:stretch>
            <a:fillRect/>
          </a:stretch>
        </p:blipFill>
        <p:spPr>
          <a:xfrm>
            <a:off x="6997629" y="2265680"/>
            <a:ext cx="4732092" cy="26111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1669737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315AAF-40A4-1CDA-1794-3F187E0C78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34060" y="192659"/>
            <a:ext cx="10515600" cy="1325563"/>
          </a:xfrm>
        </p:spPr>
        <p:txBody>
          <a:bodyPr>
            <a:normAutofit/>
          </a:bodyPr>
          <a:lstStyle/>
          <a:p>
            <a:r>
              <a:rPr lang="en-US" sz="4000" dirty="0">
                <a:solidFill>
                  <a:schemeClr val="accent1"/>
                </a:solidFill>
              </a:rPr>
              <a:t>Model Summary and Selection Justification</a:t>
            </a:r>
            <a:endParaRPr lang="en-IN" sz="4000" dirty="0">
              <a:solidFill>
                <a:schemeClr val="accent1"/>
              </a:solidFill>
            </a:endParaRP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C7F52014-8669-B281-4396-485EB5A4D33B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527491322"/>
              </p:ext>
            </p:extLst>
          </p:nvPr>
        </p:nvGraphicFramePr>
        <p:xfrm>
          <a:off x="815342" y="2351682"/>
          <a:ext cx="5435601" cy="2936237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278965">
                  <a:extLst>
                    <a:ext uri="{9D8B030D-6E8A-4147-A177-3AD203B41FA5}">
                      <a16:colId xmlns:a16="http://schemas.microsoft.com/office/drawing/2014/main" val="3176253847"/>
                    </a:ext>
                  </a:extLst>
                </a:gridCol>
                <a:gridCol w="2930961">
                  <a:extLst>
                    <a:ext uri="{9D8B030D-6E8A-4147-A177-3AD203B41FA5}">
                      <a16:colId xmlns:a16="http://schemas.microsoft.com/office/drawing/2014/main" val="496006375"/>
                    </a:ext>
                  </a:extLst>
                </a:gridCol>
                <a:gridCol w="1225675">
                  <a:extLst>
                    <a:ext uri="{9D8B030D-6E8A-4147-A177-3AD203B41FA5}">
                      <a16:colId xmlns:a16="http://schemas.microsoft.com/office/drawing/2014/main" val="600367979"/>
                    </a:ext>
                  </a:extLst>
                </a:gridCol>
              </a:tblGrid>
              <a:tr h="36697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1100" u="none" strike="noStrike" dirty="0">
                          <a:effectLst/>
                        </a:rPr>
                        <a:t>S. No</a:t>
                      </a:r>
                      <a:endParaRPr lang="en-IN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1100" u="none" strike="noStrike">
                          <a:effectLst/>
                        </a:rPr>
                        <a:t>Models</a:t>
                      </a:r>
                      <a:endParaRPr lang="en-IN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1100" u="none" strike="noStrike">
                          <a:effectLst/>
                        </a:rPr>
                        <a:t>Accuracy</a:t>
                      </a:r>
                      <a:endParaRPr lang="en-IN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3671125131"/>
                  </a:ext>
                </a:extLst>
              </a:tr>
              <a:tr h="366974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1100" u="none" strike="noStrike">
                          <a:effectLst/>
                        </a:rPr>
                        <a:t>1</a:t>
                      </a:r>
                      <a:endParaRPr lang="en-IN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1100" u="none" strike="noStrike">
                          <a:effectLst/>
                        </a:rPr>
                        <a:t>Logistic Regression</a:t>
                      </a:r>
                      <a:endParaRPr lang="en-IN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1100" u="none" strike="noStrike">
                          <a:effectLst/>
                        </a:rPr>
                        <a:t>0.82</a:t>
                      </a:r>
                      <a:endParaRPr lang="en-IN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82465292"/>
                  </a:ext>
                </a:extLst>
              </a:tr>
              <a:tr h="367419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1100" u="none" strike="noStrike">
                          <a:effectLst/>
                        </a:rPr>
                        <a:t>2</a:t>
                      </a:r>
                      <a:endParaRPr lang="en-IN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1100" u="none" strike="noStrike" dirty="0">
                          <a:effectLst/>
                        </a:rPr>
                        <a:t>Support Vector Machine</a:t>
                      </a:r>
                      <a:endParaRPr lang="en-IN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1100" u="none" strike="noStrike">
                          <a:effectLst/>
                        </a:rPr>
                        <a:t>0.82</a:t>
                      </a:r>
                      <a:endParaRPr lang="en-IN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2713806453"/>
                  </a:ext>
                </a:extLst>
              </a:tr>
              <a:tr h="366974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1100" u="none" strike="noStrike">
                          <a:effectLst/>
                        </a:rPr>
                        <a:t>3</a:t>
                      </a:r>
                      <a:endParaRPr lang="en-IN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1100" u="none" strike="noStrike">
                          <a:effectLst/>
                        </a:rPr>
                        <a:t>XG Boost</a:t>
                      </a:r>
                      <a:endParaRPr lang="en-IN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1100" u="none" strike="noStrike">
                          <a:effectLst/>
                        </a:rPr>
                        <a:t>0.82</a:t>
                      </a:r>
                      <a:endParaRPr lang="en-IN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16836084"/>
                  </a:ext>
                </a:extLst>
              </a:tr>
              <a:tr h="366974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1100" u="none" strike="noStrike">
                          <a:effectLst/>
                        </a:rPr>
                        <a:t>4</a:t>
                      </a:r>
                      <a:endParaRPr lang="en-IN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1100" u="none" strike="noStrike">
                          <a:effectLst/>
                        </a:rPr>
                        <a:t>Decision Tree</a:t>
                      </a:r>
                      <a:endParaRPr lang="en-IN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1100" u="none" strike="noStrike" dirty="0">
                          <a:effectLst/>
                        </a:rPr>
                        <a:t>0.81</a:t>
                      </a:r>
                      <a:endParaRPr lang="en-IN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793929484"/>
                  </a:ext>
                </a:extLst>
              </a:tr>
              <a:tr h="366974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1100" u="none" strike="noStrike">
                          <a:effectLst/>
                        </a:rPr>
                        <a:t>5</a:t>
                      </a:r>
                      <a:endParaRPr lang="en-IN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1100" u="none" strike="noStrike" dirty="0">
                          <a:effectLst/>
                        </a:rPr>
                        <a:t>Random Forest</a:t>
                      </a:r>
                      <a:endParaRPr lang="en-IN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1100" u="none" strike="noStrike">
                          <a:effectLst/>
                        </a:rPr>
                        <a:t>0.81</a:t>
                      </a:r>
                      <a:endParaRPr lang="en-IN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458188749"/>
                  </a:ext>
                </a:extLst>
              </a:tr>
              <a:tr h="366974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1100" u="none" strike="noStrike">
                          <a:effectLst/>
                        </a:rPr>
                        <a:t>6</a:t>
                      </a:r>
                      <a:endParaRPr lang="en-IN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1100" u="none" strike="noStrike">
                          <a:effectLst/>
                        </a:rPr>
                        <a:t>Naïve Bayes</a:t>
                      </a:r>
                      <a:endParaRPr lang="en-IN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1100" u="none" strike="noStrike">
                          <a:effectLst/>
                        </a:rPr>
                        <a:t>0.72</a:t>
                      </a:r>
                      <a:endParaRPr lang="en-IN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939809313"/>
                  </a:ext>
                </a:extLst>
              </a:tr>
              <a:tr h="36697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IN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1100" u="none" strike="noStrike" dirty="0">
                          <a:effectLst/>
                        </a:rPr>
                        <a:t>KNN</a:t>
                      </a:r>
                      <a:endParaRPr lang="en-IN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1100" u="none" strike="noStrike" dirty="0">
                          <a:effectLst/>
                        </a:rPr>
                        <a:t>0.78</a:t>
                      </a:r>
                      <a:endParaRPr lang="en-IN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2478082002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EAF3A951-2A68-58C2-C374-7228A8B970FB}"/>
              </a:ext>
            </a:extLst>
          </p:cNvPr>
          <p:cNvSpPr txBox="1"/>
          <p:nvPr/>
        </p:nvSpPr>
        <p:spPr>
          <a:xfrm>
            <a:off x="734060" y="5598160"/>
            <a:ext cx="10723880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Since Logistic Regression, SVM, and </a:t>
            </a:r>
            <a:r>
              <a:rPr lang="en-US" sz="14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XGBoost</a:t>
            </a:r>
            <a:r>
              <a:rPr lang="en-US" sz="1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achieved the highest accuracy (0.82), these models are the most suitable for deployment.</a:t>
            </a:r>
            <a:br>
              <a:rPr lang="en-US" sz="1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en-US" sz="1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Among them, the final model can be selected based on additional metrics like interpretability, computation time, and consistency across validation methods.</a:t>
            </a:r>
            <a:endParaRPr lang="en-IN" sz="14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CB27FD3-985E-C2F1-5D75-54837267D267}"/>
              </a:ext>
            </a:extLst>
          </p:cNvPr>
          <p:cNvSpPr txBox="1"/>
          <p:nvPr/>
        </p:nvSpPr>
        <p:spPr>
          <a:xfrm>
            <a:off x="815342" y="1518222"/>
            <a:ext cx="1100328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We evaluated multiple classification models to identify the most suitable algorithm for our dataset. The performance was compared using </a:t>
            </a:r>
            <a:r>
              <a:rPr lang="en-US" sz="14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accuracy</a:t>
            </a:r>
            <a:r>
              <a:rPr lang="en-US" sz="1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and the results are as follows:</a:t>
            </a:r>
            <a:endParaRPr lang="en-IN" sz="14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0343522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586</TotalTime>
  <Words>1579</Words>
  <Application>Microsoft Office PowerPoint</Application>
  <PresentationFormat>Widescreen</PresentationFormat>
  <Paragraphs>154</Paragraphs>
  <Slides>16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2" baseType="lpstr">
      <vt:lpstr>Aptos</vt:lpstr>
      <vt:lpstr>Aptos Display</vt:lpstr>
      <vt:lpstr>Aptos Narrow</vt:lpstr>
      <vt:lpstr>Arial</vt:lpstr>
      <vt:lpstr>Calibri</vt:lpstr>
      <vt:lpstr>Office Theme</vt:lpstr>
      <vt:lpstr>CUSTOMER CHURN PREDICTION </vt:lpstr>
      <vt:lpstr>TELECOM CUSTOMER CHURN</vt:lpstr>
      <vt:lpstr>FEATURE DESCRIPTION</vt:lpstr>
      <vt:lpstr>Histogram Distribution </vt:lpstr>
      <vt:lpstr>PowerPoint Presentation</vt:lpstr>
      <vt:lpstr>Box Plot </vt:lpstr>
      <vt:lpstr>Kernal Density Estimate Plot : Tenure</vt:lpstr>
      <vt:lpstr>Kernal Density Estimate Plot : MonthlyCharges</vt:lpstr>
      <vt:lpstr>Kernal Density Estimate Plot : TotalCharges</vt:lpstr>
      <vt:lpstr>100% Stacked Churn Distribution </vt:lpstr>
      <vt:lpstr>PowerPoint Presentation</vt:lpstr>
      <vt:lpstr>PowerPoint Presentation</vt:lpstr>
      <vt:lpstr>Modelling</vt:lpstr>
      <vt:lpstr>Train–Test Churn Distribution</vt:lpstr>
      <vt:lpstr>Model Evaluation (Classification)</vt:lpstr>
      <vt:lpstr>Model Summary and Selection Justification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Khavya Kumar</dc:creator>
  <cp:lastModifiedBy>Khavya Kumar</cp:lastModifiedBy>
  <cp:revision>2</cp:revision>
  <dcterms:created xsi:type="dcterms:W3CDTF">2025-12-04T13:35:01Z</dcterms:created>
  <dcterms:modified xsi:type="dcterms:W3CDTF">2025-12-09T14:51:38Z</dcterms:modified>
</cp:coreProperties>
</file>